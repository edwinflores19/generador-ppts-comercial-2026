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011680"/>
            <a:ext cx="11277295" cy="91440"/>
          </a:xfrm>
          <a:prstGeom prst="rect">
            <a:avLst/>
          </a:prstGeom>
          <a:solidFill>
            <a:srgbClr val="00A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Segoe UI"/>
              </a:defRPr>
            </a:pPr>
            <a:r>
              <a:t>Propuesta de Transformación Digital:</a:t>
            </a:r>
            <a:br/>
            <a:r>
              <a:t>SAP S/4HANA Public Cloud</a:t>
            </a:r>
          </a:p>
          <a:p>
            <a:pPr>
              <a:defRPr sz="2200" b="1">
                <a:solidFill>
                  <a:srgbClr val="00A8EB"/>
                </a:solidFill>
                <a:latin typeface="Segoe UI"/>
              </a:defRPr>
            </a:pPr>
            <a:r>
              <a:t>Preparado para: Leche Gloria S.A.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rial"/>
              </a:defRPr>
            </a:pPr>
            <a:r>
              <a:t>SEIDOR Perú  |  Lead Solution Architecture &amp; Preventa SAP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347"/>
                </a:solidFill>
                <a:latin typeface="Segoe UI"/>
              </a:defRPr>
            </a:pPr>
            <a:r>
              <a:t>Entendimiento del Cliente y Contexto de 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Arial"/>
              </a:defRPr>
            </a:pPr>
            <a:r>
              <a:t>Operaciones en el Perú y tendencias clave en el sector: Alimentos / Lácteos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94960" cy="43891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0B2347"/>
                </a:solidFill>
                <a:latin typeface="Segoe UI"/>
              </a:defRPr>
            </a:pPr>
            <a:r>
              <a:t>Resumen del Cliente</a:t>
            </a:r>
          </a:p>
          <a:p>
            <a:br/>
            <a:pPr>
              <a:defRPr sz="1200">
                <a:solidFill>
                  <a:srgbClr val="333333"/>
                </a:solidFill>
                <a:latin typeface="Arial"/>
              </a:defRPr>
            </a:pPr>
            <a:r>
              <a:t>Leche Gloria S.A. es el mayor productor de lácteos y derivados en el Perú. Posee plantas de acopio y producción en Arequipa, Lima, Cajamarca y distribución en todo el territorio nacional.</a:t>
            </a:r>
            <a:br/>
            <a:br/>
            <a:r>
              <a:t>Con operaciones en territorio peruano, la compañía requiere optimizar su estructura funcional y contable para dar soporte a su crecimiento en el mediano y largo plazo.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645920"/>
            <a:ext cx="5394960" cy="43891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0B2347"/>
                </a:solidFill>
                <a:latin typeface="Segoe UI"/>
              </a:defRPr>
            </a:pPr>
            <a:r>
              <a:t>Tendencias del Sector (2026)</a:t>
            </a:r>
          </a:p>
          <a:p>
            <a:br/>
            <a:pPr>
              <a:defRPr sz="1200">
                <a:solidFill>
                  <a:srgbClr val="333333"/>
                </a:solidFill>
                <a:latin typeface="Arial"/>
              </a:defRPr>
            </a:pPr>
            <a:r>
              <a:t>Para mantener la competitividad en el mercado peruano de Alimentos / Lácteos, el sector exige:</a:t>
            </a:r>
            <a:br/>
            <a:br/>
            <a:r>
              <a:t>• Integración total en la nube para procesos logísticos y financieros (SaaS).</a:t>
            </a:r>
            <a:br/>
            <a:br/>
            <a:r>
              <a:t>• Reportabilidad inmediata adaptada a las normativas y libros electrónicos de la SUNAT.</a:t>
            </a:r>
            <a:br/>
            <a:br/>
            <a:r>
              <a:t>• Adopción rápida de copilotos de Inteligencia Artificial (SAP Joule) para agilizar consultas transaccionales diarias.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347"/>
                </a:solidFill>
                <a:latin typeface="Segoe UI"/>
              </a:defRPr>
            </a:pPr>
            <a:r>
              <a:t>Dolores Operativos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Arial"/>
              </a:defRPr>
            </a:pPr>
            <a:r>
              <a:t>Retos que frenan la eficiencia de la organización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453688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600" b="1">
                <a:solidFill>
                  <a:srgbClr val="0B2347"/>
                </a:solidFill>
                <a:latin typeface="Segoe UI"/>
              </a:defRPr>
            </a:pPr>
            <a:r>
              <a:t>1. Logística y Abastecimiento</a:t>
            </a:r>
          </a:p>
          <a:p>
            <a:br/>
            <a:br/>
            <a:pPr>
              <a:defRPr sz="1150">
                <a:solidFill>
                  <a:srgbClr val="333333"/>
                </a:solidFill>
                <a:latin typeface="Arial"/>
              </a:defRPr>
            </a:pPr>
            <a:r>
              <a:t>Falta de trazabilidad y visibilidad en tiempo real del stock en almacenes.</a:t>
            </a:r>
            <a:br/>
            <a:r>
              <a:t>Tiempos de compra prolongados y procesos de cotización manuales.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68088" y="1645920"/>
            <a:ext cx="345368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600" b="1">
                <a:solidFill>
                  <a:srgbClr val="0B2347"/>
                </a:solidFill>
                <a:latin typeface="Segoe UI"/>
              </a:defRPr>
            </a:pPr>
            <a:r>
              <a:t>2. Gestión Contable y Financiera</a:t>
            </a:r>
          </a:p>
          <a:p>
            <a:br/>
            <a:br/>
            <a:pPr>
              <a:defRPr sz="1150">
                <a:solidFill>
                  <a:srgbClr val="333333"/>
                </a:solidFill>
                <a:latin typeface="Arial"/>
              </a:defRPr>
            </a:pPr>
            <a:r>
              <a:t>Cierres contables mensuales lentos e ineficientes.</a:t>
            </a:r>
            <a:br/>
            <a:r>
              <a:t>Complejidad en la conciliación de múltiples bancos y monedas extranjeras.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8977" y="1645920"/>
            <a:ext cx="345368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600" b="1">
                <a:solidFill>
                  <a:srgbClr val="0B2347"/>
                </a:solidFill>
                <a:latin typeface="Segoe UI"/>
              </a:defRPr>
            </a:pPr>
            <a:r>
              <a:t>3. Control de Gestión Interno</a:t>
            </a:r>
          </a:p>
          <a:p>
            <a:br/>
            <a:br/>
            <a:pPr>
              <a:defRPr sz="1150">
                <a:solidFill>
                  <a:srgbClr val="333333"/>
                </a:solidFill>
                <a:latin typeface="Arial"/>
              </a:defRPr>
            </a:pPr>
            <a:r>
              <a:t>Inexistencia de un control de disponibilidad presupuestaria en tiempo real.</a:t>
            </a:r>
            <a:br/>
            <a:r>
              <a:t>Silos de información desarticulados entre las distintas áreas operativas.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347"/>
                </a:solidFill>
                <a:latin typeface="Segoe UI"/>
              </a:defRPr>
            </a:pPr>
            <a:r>
              <a:t>La Solución Estratégica: SAP S/4HANA Public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Arial"/>
              </a:defRPr>
            </a:pPr>
            <a:r>
              <a:t>Acelerando el crecimiento operativo con mejores prácticas preconfiguradas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94960" cy="4389120"/>
          </a:xfrm>
          <a:prstGeom prst="roundRect">
            <a:avLst/>
          </a:prstGeom>
          <a:solidFill>
            <a:srgbClr val="0B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¿Por qué GROW con SAP S/4HANA?</a:t>
            </a:r>
          </a:p>
          <a:p>
            <a:br/>
            <a:br/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GROW with SAP está diseñado específicamente para habilitar de forma rápida y escalable las operaciones de empresas en crecimiento.</a:t>
            </a:r>
            <a:br/>
            <a:br/>
            <a:r>
              <a:t>✓ Mitiga los dolores de stock mediante mejores prácticas integradas.</a:t>
            </a:r>
            <a:br/>
            <a:r>
              <a:t>✓ Acelera la localización contable peruana de forma nativa en la nube.</a:t>
            </a:r>
            <a:br/>
            <a:r>
              <a:t>✓ Habilita una plataforma segura y disponible 24/7 sin costos de infraestructura física local.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645920"/>
            <a:ext cx="5394960" cy="43891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2000" b="1">
                <a:solidFill>
                  <a:srgbClr val="0B2347"/>
                </a:solidFill>
                <a:latin typeface="Segoe UI"/>
              </a:defRPr>
            </a:pPr>
            <a:r>
              <a:t>Beneficios Directos para la Operación</a:t>
            </a:r>
          </a:p>
          <a:p>
            <a:br/>
            <a:br/>
            <a:pPr>
              <a:defRPr sz="1200">
                <a:solidFill>
                  <a:srgbClr val="333333"/>
                </a:solidFill>
                <a:latin typeface="Arial"/>
              </a:defRPr>
            </a:pPr>
            <a:r>
              <a:t>• Experiencia de Usuario Moderna (Fiori): Procesos limpios e intuitivos que reducen drásticamente la curva de aprendizaje de los colaboradores.</a:t>
            </a:r>
            <a:br/>
            <a:br/>
            <a:r>
              <a:t>• Inteligencia Artificial (SAP Joule): Respuestas automáticas y comandos directos que eliminan la navegación engorrosa en menús complejos.</a:t>
            </a:r>
            <a:br/>
            <a:br/>
            <a:r>
              <a:t>• Trazabilidad Total: Trazabilidad contable instantánea desde la Solicitud de Pedido (SolPed) hasta el pago de la factura al proveedor.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347"/>
                </a:solidFill>
                <a:latin typeface="Segoe UI"/>
              </a:defRPr>
            </a:pPr>
            <a:r>
              <a:t>Alcance Funcional Parte I: Procesos Core (FI &amp; MM)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Arial"/>
              </a:defRPr>
            </a:pPr>
            <a:r>
              <a:t>Detalle de los módulos de Finanzas y Gestión de Materiales incluidos en el alcance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6248095"/>
              </a:tblGrid>
              <a:tr h="1371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Módulo Core</a:t>
                      </a:r>
                    </a:p>
                  </a:txBody>
                  <a:tcPr>
                    <a:solidFill>
                      <a:srgbClr val="0B23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Procesos de Negocio</a:t>
                      </a:r>
                    </a:p>
                  </a:txBody>
                  <a:tcPr>
                    <a:solidFill>
                      <a:srgbClr val="0B23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Detalle del Alcance e Impacto</a:t>
                      </a:r>
                    </a:p>
                  </a:txBody>
                  <a:tcPr>
                    <a:solidFill>
                      <a:srgbClr val="0B2347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Finanzas (FI)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• Estructura Organizativa</a:t>
                      </a:r>
                      <a:br/>
                      <a:r>
                        <a:t>• Contabilidad General</a:t>
                      </a:r>
                      <a:br/>
                      <a:r>
                        <a:t>• Cuentas por Pagar (CXP)</a:t>
                      </a:r>
                      <a:br/>
                      <a:r>
                        <a:t>• Cuentas por Cobrar (CXC)</a:t>
                      </a:r>
                      <a:br/>
                      <a:r>
                        <a:t>• Bancos y Activos Fijos</a:t>
                      </a:r>
                      <a:br/>
                      <a:r>
                        <a:t>• Cierre de 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Configuración de sociedades y ledgers. Procesamiento de cobros y pagos con retenciones y detracciones oficiales del Perú. Gestión centralizada de bancos propios y conciliaciones electrónicas. Control contable de activos fijos (altas, depreciación, bajas). Reportes oficiales y libros electrónicos de la SUNAT.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Materiales (MM)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• Estructura de Almacenes</a:t>
                      </a:r>
                      <a:br/>
                      <a:r>
                        <a:t>• Datos Maestros de Compras</a:t>
                      </a:r>
                      <a:br/>
                      <a:r>
                        <a:t>• Compras de Stock</a:t>
                      </a:r>
                      <a:br/>
                      <a:r>
                        <a:t>• Compras de Servicios</a:t>
                      </a:r>
                      <a:br/>
                      <a:r>
                        <a:t>• Gestión de Stocks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Gestión de compras nacionales e importaciones con recargos y costos indirectos de transporte. Ciclo completo de adquisición desde la SolPed hasta la hoja de entrada de servicios (HES) y factura. Control y valorización de inventarios con movimientos de traspaso entre almacenes y regularizaciones.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347"/>
                </a:solidFill>
                <a:latin typeface="Segoe UI"/>
              </a:defRPr>
            </a:pPr>
            <a:r>
              <a:t>Alcance Funcional Parte II: Control y Proyectos (CO &amp; 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Arial"/>
              </a:defRPr>
            </a:pPr>
            <a:r>
              <a:t>Detalle de los procesos de Controlling y Project System de alta complejidad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6248095"/>
              </a:tblGrid>
              <a:tr h="1371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Módulo</a:t>
                      </a:r>
                    </a:p>
                  </a:txBody>
                  <a:tcPr>
                    <a:solidFill>
                      <a:srgbClr val="0B23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Procesos de Negocio</a:t>
                      </a:r>
                    </a:p>
                  </a:txBody>
                  <a:tcPr>
                    <a:solidFill>
                      <a:srgbClr val="0B23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Detalle del Alcance e Impacto</a:t>
                      </a:r>
                    </a:p>
                  </a:txBody>
                  <a:tcPr>
                    <a:solidFill>
                      <a:srgbClr val="0B2347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Controlling (CO)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• Centros de Costo (CECO)</a:t>
                      </a:r>
                      <a:br/>
                      <a:r>
                        <a:t>• Centros de Beneficio (CEBI)</a:t>
                      </a:r>
                      <a:br/>
                      <a:r>
                        <a:t>• Órdenes Internas de Gastos</a:t>
                      </a:r>
                      <a:br/>
                      <a:r>
                        <a:t>• Ciclos de Distribución</a:t>
                      </a:r>
                      <a:br/>
                      <a:r>
                        <a:t>• Análisis de Margen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Estructura jerárquica de costos. Control exhaustivo de costos indirectos mediante colectores temporales (órdenes internas) y liquidaciones mensuales automáticas. Ciclos de distribución y subreparto de gastos generales. Análisis detallado de rentabilidad por segmento de mercado (CO-PA contable).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Proyectos (PS)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• Estructura de Proyectos (PEP)</a:t>
                      </a:r>
                      <a:br/>
                      <a:r>
                        <a:t>• Presupuesto y Disponibilidad</a:t>
                      </a:r>
                      <a:br/>
                      <a:r>
                        <a:t>• Imputaciones reales a PEP</a:t>
                      </a:r>
                      <a:br/>
                      <a:r>
                        <a:t>• Liquidación de Proyectos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Estructuraciones WBS/PEP para controlar proyectos de gastos (OPEX) y proyectos de inversión (CAPEX). Control estricto de disponibilidad presupuestal (prevención de excesos de gasto). Liquidación mensual y cierre definitivo del proyecto contra activos fijos en curso o cuentas de balance.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347"/>
                </a:solidFill>
                <a:latin typeface="Segoe UI"/>
              </a:defRPr>
            </a:pPr>
            <a:r>
              <a:t>Casos de Uso Prácticos / Matriz de Éxito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Arial"/>
              </a:defRPr>
            </a:pPr>
            <a:r>
              <a:t>Operación Tradicional vs Eficiencia en el Sistema SAP S/4HANA (Joule)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63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190"/>
                <a:gridCol w="5638190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Operación Tradicional (Dolor / Hoy)</a:t>
                      </a:r>
                    </a:p>
                  </a:txBody>
                  <a:tcPr>
                    <a:solidFill>
                      <a:srgbClr val="0B23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Operación con SAP S/4HANA (Eficiencia Automática)</a:t>
                      </a:r>
                    </a:p>
                  </a:txBody>
                  <a:tcPr>
                    <a:solidFill>
                      <a:srgbClr val="0B2347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Búsqueda manual de facturas y documentos de proveedores navegando por múltiples menús o listando clientes de manera subjetiva e incompleta.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Joule responde a comandos directos en lenguaje natural: "Muéstrame las facturas de la sociedad 5710" o "Listar facturas vencidas" en segundos, agilizando el flujo del analista.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Retrasos e imprecisiones al crear solicitudes de compra y órdenes sin políticas claras ni visualización inmediata del historial de precios y contratos.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Acceso inmediato al historial completo de SolPeds y flujos de aprobación automáticos desde Fiori, con soporte integrado de Joule para ubicar contratos con mayor valor.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Silos de información desarticulados. Coordinaciones manuales ineficientes (ej. SAP vs Cloud) que conllevan a fricciones operativas y reprocesos constantes.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Integración nativa completa de Finanzas, Compras y Ventas bajo el principio de "Un Solo Equipo" de SEIDOR, con trazabilidad 100% digital y una sola fuente de verdad.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347"/>
                </a:solidFill>
                <a:latin typeface="Segoe UI"/>
              </a:defRPr>
            </a:pPr>
            <a:r>
              <a:t>Gestión del Cambio y Cultura Organizacional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Arial"/>
              </a:defRPr>
            </a:pPr>
            <a:r>
              <a:t>Metodología de acompañamiento y adopción para el equipo de colaboradores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94960" cy="438912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0B2347"/>
                </a:solidFill>
                <a:latin typeface="Segoe UI"/>
              </a:defRPr>
            </a:pPr>
            <a:r>
              <a:t>Acompañamiento en la Adopción</a:t>
            </a:r>
          </a:p>
          <a:p>
            <a:br/>
            <a:br/>
            <a:pPr>
              <a:defRPr sz="1100">
                <a:solidFill>
                  <a:srgbClr val="333333"/>
                </a:solidFill>
                <a:latin typeface="Arial"/>
              </a:defRPr>
            </a:pPr>
            <a:r>
              <a:t>La adopción tecnológica es liderada bajo un enfoque práctico:</a:t>
            </a:r>
            <a:br/>
            <a:br/>
            <a:r>
              <a:t>• Capacitación Focalizada: Talleres prácticos sobre el uso del chat de Joule, enseñando reglas claras (ej: evitar ambigüedades como 'clientes morosos' y usar términos exactos como 'facturas vencidas').</a:t>
            </a:r>
            <a:br/>
            <a:br/>
            <a:r>
              <a:t>• Fiori Quick-Wins: Capacitación intensiva en el portal Fiori para agilizar transacciones diarias.</a:t>
            </a:r>
            <a:br/>
            <a:br/>
            <a:r>
              <a:t>• Gestión Preventiva: Identificación y mitigación proactiva de la resistencia al cambio en las fases iniciales.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645920"/>
            <a:ext cx="5394960" cy="4389120"/>
          </a:xfrm>
          <a:prstGeom prst="roundRect">
            <a:avLst/>
          </a:prstGeom>
          <a:solidFill>
            <a:srgbClr val="0B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Liderazgo Seidor y Feedback Oportuno</a:t>
            </a:r>
          </a:p>
          <a:p>
            <a:br/>
            <a:br/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El equipo consultor de SEIDOR implementa una metodología de feedback estructurada para coordinar con los líderes del cliente:</a:t>
            </a:r>
            <a:br/>
            <a:br/>
            <a:r>
              <a:t>1. Preparación y Hecho Concreto: Feedback enfocado en situaciones objetivas y medibles, no juicios.</a:t>
            </a:r>
            <a:br/>
            <a:br/>
            <a:r>
              <a:t>2. Escucha Activa y Acuerdos: Sesiones donde se da espacio para discutir inquietudes y se pactan acciones medibles y concretas.</a:t>
            </a:r>
            <a:br/>
            <a:br/>
            <a:r>
              <a:t>3. Principio de Liderazgo: 'Feedback firme en el contenido, empático en la forma' con el objetivo de desarrollar personas y fortalecer el enfoque de un solo equipo.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347"/>
                </a:solidFill>
                <a:latin typeface="Segoe UI"/>
              </a:defRPr>
            </a:pPr>
            <a:r>
              <a:t>Propuesta Económica e Inversión Estimada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Arial"/>
              </a:defRPr>
            </a:pPr>
            <a:r>
              <a:t>Desglose financiero del proyecto y estimaciones de retorno de inversión (ROI)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62179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377440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Concepto de Inversión</a:t>
                      </a:r>
                    </a:p>
                  </a:txBody>
                  <a:tcPr>
                    <a:solidFill>
                      <a:srgbClr val="0B23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Monto Estimado (USD)</a:t>
                      </a:r>
                    </a:p>
                  </a:txBody>
                  <a:tcPr>
                    <a:solidFill>
                      <a:srgbClr val="0B2347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Licencias Anuales Cloud (SaaS)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$ 100,000.00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Servicios de Implementación (4770 horas consultor)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$ 286,200.00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Soporte Anual Post Go-Live (AMS - 15%)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$ 42,930.00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Inversión Total Estimada Año 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$ 429,130.00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040880" y="1645920"/>
            <a:ext cx="4663440" cy="3840480"/>
          </a:xfrm>
          <a:prstGeom prst="roundRect">
            <a:avLst/>
          </a:prstGeom>
          <a:solidFill>
            <a:srgbClr val="0B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Indicadores Financieros de Retorno</a:t>
            </a:r>
          </a:p>
          <a:p>
            <a:br/>
            <a:pPr>
              <a:defRPr sz="1200">
                <a:solidFill>
                  <a:srgbClr val="FFFFFF"/>
                </a:solidFill>
                <a:latin typeface="Arial"/>
              </a:defRPr>
            </a:pPr>
            <a:r>
              <a:t>• Eficiencia Anual Estimada: </a:t>
            </a:r>
            <a:br/>
            <a:r>
              <a:t>  $ 225,000.00 USD</a:t>
            </a:r>
            <a:br/>
            <a:r>
              <a:t>  (Basado en un ahorro operativo proyectado de 1.5%)</a:t>
            </a:r>
            <a:br/>
            <a:br/>
            <a:r>
              <a:t>• Payback Period (Retorno de Inversión): </a:t>
            </a:r>
            <a:br/>
            <a:r>
              <a:t>  1.72 años</a:t>
            </a:r>
            <a:br/>
            <a:br/>
            <a:r>
              <a:t>• Retorno de Inversión (ROI a 5 años): </a:t>
            </a:r>
            <a:br/>
            <a:r>
              <a:t>  12.4%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B2347"/>
                </a:solidFill>
                <a:latin typeface="Segoe UI"/>
              </a:defRPr>
            </a:pPr>
            <a:r>
              <a:t>Cronograma de Implementación (SAP Activate)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Arial"/>
              </a:defRPr>
            </a:pPr>
            <a:r>
              <a:t>Hitos clave del proyecto mapeados de acuerdo a la estimación de consultores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066543" cy="3840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600" b="1">
                <a:solidFill>
                  <a:srgbClr val="0B2347"/>
                </a:solidFill>
                <a:latin typeface="Segoe UI"/>
              </a:defRPr>
            </a:pPr>
            <a:r>
              <a:t>Prepare</a:t>
            </a:r>
          </a:p>
          <a:p>
            <a:pPr>
              <a:defRPr sz="1100" b="1">
                <a:solidFill>
                  <a:srgbClr val="333333"/>
                </a:solidFill>
                <a:latin typeface="Segoe UI"/>
              </a:defRPr>
            </a:pPr>
            <a:r>
              <a:t>2 Semanas</a:t>
            </a:r>
            <a:br/>
          </a:p>
          <a:p>
            <a:br/>
            <a:pPr>
              <a:defRPr sz="950">
                <a:solidFill>
                  <a:srgbClr val="333333"/>
                </a:solidFill>
                <a:latin typeface="Arial"/>
              </a:defRPr>
            </a:pPr>
            <a:r>
              <a:t>Alineación del equipo, accesos al sistema sandbox.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52344" y="1828800"/>
            <a:ext cx="2066543" cy="3840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600" b="1">
                <a:solidFill>
                  <a:srgbClr val="0B2347"/>
                </a:solidFill>
                <a:latin typeface="Segoe UI"/>
              </a:defRPr>
            </a:pPr>
            <a:r>
              <a:t>Explore</a:t>
            </a:r>
          </a:p>
          <a:p>
            <a:pPr>
              <a:defRPr sz="1100" b="1">
                <a:solidFill>
                  <a:srgbClr val="333333"/>
                </a:solidFill>
                <a:latin typeface="Segoe UI"/>
              </a:defRPr>
            </a:pPr>
            <a:r>
              <a:t>5.8 Semanas</a:t>
            </a:r>
            <a:br/>
          </a:p>
          <a:p>
            <a:br/>
            <a:pPr>
              <a:defRPr sz="950">
                <a:solidFill>
                  <a:srgbClr val="333333"/>
                </a:solidFill>
                <a:latin typeface="Arial"/>
              </a:defRPr>
            </a:pPr>
            <a:r>
              <a:t>Talleres de diseño, definición del BPD y gaps.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47488" y="1828800"/>
            <a:ext cx="2066543" cy="3840480"/>
          </a:xfrm>
          <a:prstGeom prst="roundRect">
            <a:avLst/>
          </a:prstGeom>
          <a:solidFill>
            <a:srgbClr val="0B2347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600" b="1">
                <a:solidFill>
                  <a:srgbClr val="00A8EB"/>
                </a:solidFill>
                <a:latin typeface="Segoe UI"/>
              </a:defRPr>
            </a:pPr>
            <a:r>
              <a:t>Realize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10.7 Semanas</a:t>
            </a:r>
            <a:br/>
          </a:p>
          <a:p>
            <a:br/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Configuración del sistema, pruebas unitarias e integrales.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42631" y="1828800"/>
            <a:ext cx="2066543" cy="3840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600" b="1">
                <a:solidFill>
                  <a:srgbClr val="0B2347"/>
                </a:solidFill>
                <a:latin typeface="Segoe UI"/>
              </a:defRPr>
            </a:pPr>
            <a:r>
              <a:t>Deploy</a:t>
            </a:r>
          </a:p>
          <a:p>
            <a:pPr>
              <a:defRPr sz="1100" b="1">
                <a:solidFill>
                  <a:srgbClr val="333333"/>
                </a:solidFill>
                <a:latin typeface="Segoe UI"/>
              </a:defRPr>
            </a:pPr>
            <a:r>
              <a:t>4.0 Semanas</a:t>
            </a:r>
            <a:br/>
          </a:p>
          <a:p>
            <a:br/>
            <a:pPr>
              <a:defRPr sz="950">
                <a:solidFill>
                  <a:srgbClr val="333333"/>
                </a:solidFill>
                <a:latin typeface="Arial"/>
              </a:defRPr>
            </a:pPr>
            <a:r>
              <a:t>Migración de datos (Migration Cockpit) y Go-Live.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37776" y="1828800"/>
            <a:ext cx="2066543" cy="38404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defRPr sz="1600" b="1">
                <a:solidFill>
                  <a:srgbClr val="0B2347"/>
                </a:solidFill>
                <a:latin typeface="Segoe UI"/>
              </a:defRPr>
            </a:pPr>
            <a:r>
              <a:t>Run</a:t>
            </a:r>
          </a:p>
          <a:p>
            <a:pPr>
              <a:defRPr sz="1100" b="1">
                <a:solidFill>
                  <a:srgbClr val="333333"/>
                </a:solidFill>
                <a:latin typeface="Segoe UI"/>
              </a:defRPr>
            </a:pPr>
            <a:r>
              <a:t>Soporte Continuo</a:t>
            </a:r>
            <a:br/>
          </a:p>
          <a:p>
            <a:br/>
            <a:pPr>
              <a:defRPr sz="950">
                <a:solidFill>
                  <a:srgbClr val="333333"/>
                </a:solidFill>
                <a:latin typeface="Arial"/>
              </a:defRPr>
            </a:pPr>
            <a:r>
              <a:t>Soporte post Go-Live y adopción continua de Joule.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¡Muchas Gracias!</a:t>
            </a:r>
          </a:p>
          <a:p>
            <a:pPr algn="ctr">
              <a:defRPr sz="1600">
                <a:solidFill>
                  <a:srgbClr val="00A8EB"/>
                </a:solidFill>
                <a:latin typeface="Arial"/>
              </a:defRPr>
            </a:pPr>
            <a:r>
              <a:t> GROW with SAP: El futuro de la gestión empresarial en la nube, impulsado por SEIDOR Perú.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